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d880e8844a4e14" /><Relationship Type="http://schemas.openxmlformats.org/officeDocument/2006/relationships/extended-properties" Target="/docProps/app.xml" Id="R9db20e0408bd4c21" /><Relationship Type="http://schemas.openxmlformats.org/officeDocument/2006/relationships/officeDocument" Target="/ppt/presentation.xml" Id="R505eb6213b584d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cf0e5923fb4801"/>
  </p:sldMasterIdLst>
  <p:notesMasterIdLst>
    <p:notesMasterId xmlns:r="http://schemas.openxmlformats.org/officeDocument/2006/relationships" r:id="Rbba191194fd741cf"/>
  </p:notesMasterIdLst>
  <p:sldIdLst>
    <p:sldId xmlns:r="http://schemas.openxmlformats.org/officeDocument/2006/relationships" id="256" r:id="R3efdc28b0b9646bb"/>
    <p:sldId xmlns:r="http://schemas.openxmlformats.org/officeDocument/2006/relationships" id="257" r:id="R64a35b2e69be49dc"/>
    <p:sldId xmlns:r="http://schemas.openxmlformats.org/officeDocument/2006/relationships" id="258" r:id="R04dbc8e81b424d4c"/>
    <p:sldId xmlns:r="http://schemas.openxmlformats.org/officeDocument/2006/relationships" id="259" r:id="Re0b3f1caeccc4620"/>
    <p:sldId xmlns:r="http://schemas.openxmlformats.org/officeDocument/2006/relationships" id="260" r:id="Red2fc54d20df4672"/>
    <p:sldId xmlns:r="http://schemas.openxmlformats.org/officeDocument/2006/relationships" id="261" r:id="Rd511c20b992a495c"/>
    <p:sldId xmlns:r="http://schemas.openxmlformats.org/officeDocument/2006/relationships" id="262" r:id="R8baeed8860ca4bf3"/>
    <p:sldId xmlns:r="http://schemas.openxmlformats.org/officeDocument/2006/relationships" id="263" r:id="Rf65ed870c8ec4abc"/>
    <p:sldId xmlns:r="http://schemas.openxmlformats.org/officeDocument/2006/relationships" id="264" r:id="R9e799f941258403a"/>
    <p:sldId xmlns:r="http://schemas.openxmlformats.org/officeDocument/2006/relationships" id="265" r:id="Rd24c622bd704433e"/>
    <p:sldId xmlns:r="http://schemas.openxmlformats.org/officeDocument/2006/relationships" id="266" r:id="Rf0e911dfc88645c7"/>
    <p:sldId xmlns:r="http://schemas.openxmlformats.org/officeDocument/2006/relationships" id="267" r:id="Rbddabf7947dc401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924e6db51741a1" /><Relationship Type="http://schemas.openxmlformats.org/officeDocument/2006/relationships/slideMaster" Target="/ppt/slideMasters/slideMaster1.xml" Id="Re2cf0e5923fb4801" /><Relationship Type="http://schemas.openxmlformats.org/officeDocument/2006/relationships/notesMaster" Target="/ppt/notesMasters/notesMaster1.xml" Id="Rbba191194fd741cf" /><Relationship Type="http://schemas.openxmlformats.org/officeDocument/2006/relationships/presProps" Target="/ppt/presProps.xml" Id="R5805e2a2e5f74664" /><Relationship Type="http://schemas.openxmlformats.org/officeDocument/2006/relationships/tableStyles" Target="/ppt/tableStyles.xml" Id="Rc0edc8bd5a1543f1" /><Relationship Type="http://schemas.openxmlformats.org/officeDocument/2006/relationships/slide" Target="/ppt/slides/slide1.xml" Id="R3efdc28b0b9646bb" /><Relationship Type="http://schemas.openxmlformats.org/officeDocument/2006/relationships/slide" Target="/ppt/slides/slide2.xml" Id="R64a35b2e69be49dc" /><Relationship Type="http://schemas.openxmlformats.org/officeDocument/2006/relationships/slide" Target="/ppt/slides/slide3.xml" Id="R04dbc8e81b424d4c" /><Relationship Type="http://schemas.openxmlformats.org/officeDocument/2006/relationships/slide" Target="/ppt/slides/slide4.xml" Id="Re0b3f1caeccc4620" /><Relationship Type="http://schemas.openxmlformats.org/officeDocument/2006/relationships/slide" Target="/ppt/slides/slide5.xml" Id="Red2fc54d20df4672" /><Relationship Type="http://schemas.openxmlformats.org/officeDocument/2006/relationships/slide" Target="/ppt/slides/slide6.xml" Id="Rd511c20b992a495c" /><Relationship Type="http://schemas.openxmlformats.org/officeDocument/2006/relationships/slide" Target="/ppt/slides/slide7.xml" Id="R8baeed8860ca4bf3" /><Relationship Type="http://schemas.openxmlformats.org/officeDocument/2006/relationships/slide" Target="/ppt/slides/slide8.xml" Id="Rf65ed870c8ec4abc" /><Relationship Type="http://schemas.openxmlformats.org/officeDocument/2006/relationships/slide" Target="/ppt/slides/slide9.xml" Id="R9e799f941258403a" /><Relationship Type="http://schemas.openxmlformats.org/officeDocument/2006/relationships/slide" Target="/ppt/slides/slide10.xml" Id="Rd24c622bd704433e" /><Relationship Type="http://schemas.openxmlformats.org/officeDocument/2006/relationships/slide" Target="/ppt/slides/slide11.xml" Id="Rf0e911dfc88645c7" /><Relationship Type="http://schemas.openxmlformats.org/officeDocument/2006/relationships/slide" Target="/ppt/slides/slide12.xml" Id="Rbddabf7947dc40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fd378de54c4a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e617e29421477c" /><Relationship Type="http://schemas.openxmlformats.org/officeDocument/2006/relationships/notesMaster" Target="/ppt/notesMasters/notesMaster1.xml" Id="Rdcdeabcacd2544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dddf899b4a421b" /><Relationship Type="http://schemas.openxmlformats.org/officeDocument/2006/relationships/notesMaster" Target="/ppt/notesMasters/notesMaster1.xml" Id="Ra39d3690cca342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21fe19d9794e4c" /><Relationship Type="http://schemas.openxmlformats.org/officeDocument/2006/relationships/notesMaster" Target="/ppt/notesMasters/notesMaster1.xml" Id="Rd8938c88723441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ce83d6ec4b4783" /><Relationship Type="http://schemas.openxmlformats.org/officeDocument/2006/relationships/notesMaster" Target="/ppt/notesMasters/notesMaster1.xml" Id="Reb071b3013434b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8a0e960b7b4d96" /><Relationship Type="http://schemas.openxmlformats.org/officeDocument/2006/relationships/notesMaster" Target="/ppt/notesMasters/notesMaster1.xml" Id="R207805a0fba54a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b97f60860c4622" /><Relationship Type="http://schemas.openxmlformats.org/officeDocument/2006/relationships/notesMaster" Target="/ppt/notesMasters/notesMaster1.xml" Id="R24131182de8142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9a6d3da42241a9" /><Relationship Type="http://schemas.openxmlformats.org/officeDocument/2006/relationships/notesMaster" Target="/ppt/notesMasters/notesMaster1.xml" Id="R0ae7b3c5da8549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e93e5e93e045ae" /><Relationship Type="http://schemas.openxmlformats.org/officeDocument/2006/relationships/notesMaster" Target="/ppt/notesMasters/notesMaster1.xml" Id="R232ec3b8bfc64f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b3d97f703f4215" /><Relationship Type="http://schemas.openxmlformats.org/officeDocument/2006/relationships/notesMaster" Target="/ppt/notesMasters/notesMaster1.xml" Id="R5d307204cad945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28328761184726" /><Relationship Type="http://schemas.openxmlformats.org/officeDocument/2006/relationships/notesMaster" Target="/ppt/notesMasters/notesMaster1.xml" Id="Rd930c8bea37c4e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5f8ec91bcfa48ae" /><Relationship Type="http://schemas.openxmlformats.org/officeDocument/2006/relationships/notesMaster" Target="/ppt/notesMasters/notesMaster1.xml" Id="Re7da9ff971144a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815463fc504162" /><Relationship Type="http://schemas.openxmlformats.org/officeDocument/2006/relationships/notesMaster" Target="/ppt/notesMasters/notesMaster1.xml" Id="R35272ae9eba940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e5a144f65943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7376d96717470d" /><Relationship Type="http://schemas.openxmlformats.org/officeDocument/2006/relationships/slideLayout" Target="/ppt/slideLayouts/slideLayout1.xml" Id="R9fabaccbb9d044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abaccbb9d044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6ac879d0949d0" /><Relationship Type="http://schemas.openxmlformats.org/officeDocument/2006/relationships/notesSlide" Target="/ppt/notesSlides/notesSlide1.xml" Id="R64a2bcc6c3f94f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8ba72397a48d7" /><Relationship Type="http://schemas.openxmlformats.org/officeDocument/2006/relationships/notesSlide" Target="/ppt/notesSlides/notesSlide2.xml" Id="Rfd6aba2bab3a4b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4886538da4fcd" /><Relationship Type="http://schemas.openxmlformats.org/officeDocument/2006/relationships/notesSlide" Target="/ppt/notesSlides/notesSlide3.xml" Id="R3e0986a3aa6445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481823b4349a3" /><Relationship Type="http://schemas.openxmlformats.org/officeDocument/2006/relationships/notesSlide" Target="/ppt/notesSlides/notesSlide4.xml" Id="Re96ffca08e534d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9a12043234d46" /><Relationship Type="http://schemas.openxmlformats.org/officeDocument/2006/relationships/notesSlide" Target="/ppt/notesSlides/notesSlide5.xml" Id="R1ca6a668c5c849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f31b55b4a48f8" /><Relationship Type="http://schemas.openxmlformats.org/officeDocument/2006/relationships/notesSlide" Target="/ppt/notesSlides/notesSlide6.xml" Id="R6f814356fcf544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4174dbb1b4fb9" /><Relationship Type="http://schemas.openxmlformats.org/officeDocument/2006/relationships/notesSlide" Target="/ppt/notesSlides/notesSlide7.xml" Id="R89eb76eb6e5146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d3dddf5934b39" /><Relationship Type="http://schemas.openxmlformats.org/officeDocument/2006/relationships/notesSlide" Target="/ppt/notesSlides/notesSlide8.xml" Id="Rb67e73f6808b43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cc8ec87ed4d26" /><Relationship Type="http://schemas.openxmlformats.org/officeDocument/2006/relationships/notesSlide" Target="/ppt/notesSlides/notesSlide9.xml" Id="R3cf7c6fe232c4b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298b358634db6" /><Relationship Type="http://schemas.openxmlformats.org/officeDocument/2006/relationships/notesSlide" Target="/ppt/notesSlides/notesSlide10.xml" Id="R2735aff6b1234a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1d8a34cdf46f3" /><Relationship Type="http://schemas.openxmlformats.org/officeDocument/2006/relationships/notesSlide" Target="/ppt/notesSlides/notesSlide11.xml" Id="R9833bb58c3284d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f7a6c9a9b479c" /><Relationship Type="http://schemas.openxmlformats.org/officeDocument/2006/relationships/notesSlide" Target="/ppt/notesSlides/notesSlide12.xml" Id="R105334b6ecf049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69F18-3EBB-40C7-8110-8CE62CE3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工业运维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45C8C-0984-4645-B99C-0B38E567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D3FF"/>
                </a:solidFill>
              </a:defRPr>
            </a:pPr>
            <a:r>
              <a:rPr sz="2100" b="1">
                <a:solidFill>
                  <a:srgbClr val="B9D3FF"/>
                </a:solidFill>
              </a:rPr>
              <a:t>设备故障查询 + 维修方案自动生成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6EFB1-0648-4005-B1C3-B8E2F828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5"/>
                </a:solidFill>
              </a:defRPr>
            </a:pPr>
            <a:r>
              <a:rPr sz="1500" b="0">
                <a:solidFill>
                  <a:srgbClr val="D8E5F5"/>
                </a:solidFill>
              </a:rPr>
              <a:t>从选题、产品定义到安全 MVP、治理、评测与恢复闭环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8A08B-1C6F-4C22-9683-AECA9C78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43000"/>
            <a:ext cx="2667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54"/>
          </a:solidFill>
          <a:ln xmlns:a="http://schemas.openxmlformats.org/drawingml/2006/main" w="9525">
            <a:solidFill>
              <a:srgbClr val="3355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AFE8D-B333-4FE4-8DD5-62D00B5C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811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71DBE6"/>
                </a:solidFill>
              </a:defRPr>
            </a:pPr>
            <a:r>
              <a:rPr sz="2550" b="1">
                <a:solidFill>
                  <a:srgbClr val="71DBE6"/>
                </a:solidFill>
              </a:rPr>
              <a:t>v1.7.0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F2B67-CEFD-42EE-B0FD-DCA95120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51 /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63354-1A97-4B66-AB31-27238AEE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8E5F5"/>
                </a:solidFill>
              </a:defRPr>
            </a:pPr>
            <a:r>
              <a:rPr sz="1350" b="0">
                <a:solidFill>
                  <a:srgbClr val="D8E5F5"/>
                </a:solidFill>
              </a:rPr>
              <a:t>自动化测试通过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1A5F3-4B00-45DA-9BF0-8E52E5F8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243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9D3FF"/>
                </a:solidFill>
              </a:defRPr>
            </a:pPr>
            <a:r>
              <a:rPr sz="1500" b="1">
                <a:solidFill>
                  <a:srgbClr val="B9D3FF"/>
                </a:solidFill>
              </a:rPr>
              <a:t>30 回归 + 15 盲测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98C37-74F0-4A3B-B992-22508C37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4CC"/>
                </a:solidFill>
              </a:defRPr>
            </a:pPr>
            <a:r>
              <a:rPr sz="1200" b="0">
                <a:solidFill>
                  <a:srgbClr val="9FB4CC"/>
                </a:solidFill>
              </a:rPr>
              <a:t>教学与作品集项目｜不连接真实设备</a:t>
            </a:r>
          </a:p>
        </p:txBody>
      </p:sp>
    </p:spTree>
    <p:extLst>
      <p:ext uri="{BB962C8B-B14F-4D97-AF65-F5344CB8AC3E}">
        <p14:creationId xmlns:p14="http://schemas.microsoft.com/office/powerpoint/2010/main" val="20746602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0795BC-265E-4AE5-B464-A13CA30C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FF"/>
                </a:solidFill>
              </a:defRPr>
            </a:pPr>
            <a:r>
              <a:rPr sz="1050" b="1">
                <a:solidFill>
                  <a:srgbClr val="176BFF"/>
                </a:solidFill>
              </a:rPr>
              <a:t>INDUSTRIAL MAINTENANCE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3D30E-05AA-4583-B2A6-10455CA7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238"/>
                </a:solidFill>
              </a:defRPr>
            </a:pPr>
            <a:r>
              <a:rPr sz="2625" b="1">
                <a:solidFill>
                  <a:srgbClr val="152238"/>
                </a:solidFill>
              </a:rPr>
              <a:t>项目要解决的不是“生成答案”，而是可信地形成维修草稿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B0391-6446-427D-8CFB-EFB8CD2F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solidFill>
              <a:srgbClr val="176B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F046F-01BA-44DD-85DC-0B2D4C23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3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7C664-FC99-4DB7-892A-128BF74C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BFF"/>
                </a:solidFill>
              </a:defRPr>
            </a:pPr>
            <a:r>
              <a:rPr sz="2250" b="1">
                <a:solidFill>
                  <a:srgbClr val="176B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017DAB-FEBE-40A2-8CF9-EF192552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信息分散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1A02D-CD5F-472E-8E60-2FE0AC40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9527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37A"/>
                </a:solidFill>
              </a:defRPr>
            </a:pPr>
            <a:r>
              <a:rPr sz="1200" b="0">
                <a:solidFill>
                  <a:srgbClr val="52637A"/>
                </a:solidFill>
              </a:rPr>
              <a:t>设备状态、历史故障、风险规则与维修资料来自不同数据源。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EB5A3-CCAF-477D-9EE8-49ED0F9A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F228D-008B-4899-8056-26CBF69B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57B25"/>
                </a:solidFill>
              </a:defRPr>
            </a:pPr>
            <a:r>
              <a:rPr sz="2250" b="1">
                <a:solidFill>
                  <a:srgbClr val="E57B25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E8B0E-E320-4D81-B64F-D204AFB6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76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建议有风险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74167-772A-49C2-B5DC-41C86052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14650"/>
            <a:ext cx="29527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37A"/>
                </a:solidFill>
              </a:defRPr>
            </a:pPr>
            <a:r>
              <a:rPr sz="1200" b="0">
                <a:solidFill>
                  <a:srgbClr val="52637A"/>
                </a:solidFill>
              </a:rPr>
              <a:t>无来源生成、单位错误或越权控制，可能把软件问题放大为安全问题。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04561-5B45-4DC8-ABB5-00BD346A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333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488DC-FC94-45EE-80DB-D69CE650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8A64"/>
                </a:solidFill>
              </a:defRPr>
            </a:pPr>
            <a:r>
              <a:rPr sz="2250" b="1">
                <a:solidFill>
                  <a:srgbClr val="168A64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1AF37-F8DB-4A7A-9484-6229814C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结果需复核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1A4D7-D1E8-4438-BDA5-DD6252FB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29527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37A"/>
                </a:solidFill>
              </a:defRPr>
            </a:pPr>
            <a:r>
              <a:rPr sz="1200" b="0">
                <a:solidFill>
                  <a:srgbClr val="52637A"/>
                </a:solidFill>
              </a:rPr>
              <a:t>系统必须区分事实、候选原因、未知项和限制，并保留人工确认。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D3D5BA-C87C-4D0E-B9EF-BD0C8FEE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37A"/>
                </a:solidFill>
              </a:defRPr>
            </a:pPr>
            <a:r>
              <a:rPr sz="900" b="0">
                <a:solidFill>
                  <a:srgbClr val="52637A"/>
                </a:solidFill>
              </a:rPr>
              <a:t>项目本地代码、测试与交付文档｜2026-07-21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19FC2B-20B6-4E14-844B-69D71B98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37A"/>
                </a:solidFill>
              </a:defRPr>
            </a:pPr>
            <a:r>
              <a:rPr sz="975" b="1">
                <a:solidFill>
                  <a:srgbClr val="5263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087303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856E92-1179-47CB-A4CA-4C90ABB4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FF"/>
                </a:solidFill>
              </a:defRPr>
            </a:pPr>
            <a:r>
              <a:rPr sz="1050" b="1">
                <a:solidFill>
                  <a:srgbClr val="176BFF"/>
                </a:solidFill>
              </a:rPr>
              <a:t>INDUSTRIAL MAINTENANCE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7A2A6-DC29-499B-942C-603BD03C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238"/>
                </a:solidFill>
              </a:defRPr>
            </a:pPr>
            <a:r>
              <a:rPr sz="2625" b="1">
                <a:solidFill>
                  <a:srgbClr val="152238"/>
                </a:solidFill>
              </a:rPr>
              <a:t>产品边界先于功能：只读、可追溯、失败关闭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11558-14F7-47D0-B059-6DE6F8D3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solidFill>
              <a:srgbClr val="176B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69549-9C63-4B45-B13F-6E73C890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3"/>
          </a:solidFill>
          <a:ln xmlns:a="http://schemas.openxmlformats.org/drawingml/2006/main" w="9525">
            <a:solidFill>
              <a:srgbClr val="168A6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04328-C5F5-449E-B3AD-B080AA97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A64"/>
                </a:solidFill>
              </a:defRPr>
            </a:pPr>
            <a:r>
              <a:rPr sz="1800" b="1">
                <a:solidFill>
                  <a:srgbClr val="168A64"/>
                </a:solidFill>
              </a:rPr>
              <a:t>系统做什么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C29D2-6905-4EF2-9F9C-197E6850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050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238"/>
                </a:solidFill>
              </a:defRPr>
            </a:pPr>
            <a:r>
              <a:rPr sz="1350" b="0">
                <a:solidFill>
                  <a:srgbClr val="152238"/>
                </a:solidFill>
              </a:rPr>
              <a:t>读取仿真或脱敏 CSV；检索带来源知识；生成待确认草稿；记录审计与专家审核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A059D-0B69-455D-87A6-74E868F1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972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C540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73CCC-3A32-4598-BCC6-B37D1D7C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4040"/>
                </a:solidFill>
              </a:defRPr>
            </a:pPr>
            <a:r>
              <a:rPr sz="1800" b="1">
                <a:solidFill>
                  <a:srgbClr val="C54040"/>
                </a:solidFill>
              </a:rPr>
              <a:t>系统不做什么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F8DEA9-F746-4560-9DF1-98BEAF4F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86125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238"/>
                </a:solidFill>
              </a:defRPr>
            </a:pPr>
            <a:r>
              <a:rPr sz="1350" b="0">
                <a:solidFill>
                  <a:srgbClr val="152238"/>
                </a:solidFill>
              </a:rPr>
              <a:t>不连接 PLC；不控制设备；不把盲测当工业准确率；不冒充企业身份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B1791-0D32-4B50-B344-106EB27C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A"/>
          </a:solidFill>
          <a:ln xmlns:a="http://schemas.openxmlformats.org/drawingml/2006/main" w="9525">
            <a:solidFill>
              <a:srgbClr val="E57B2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D9EBAC-931A-497F-B032-84BC3A59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57B25"/>
                </a:solidFill>
              </a:defRPr>
            </a:pPr>
            <a:r>
              <a:rPr sz="1800" b="1">
                <a:solidFill>
                  <a:srgbClr val="E57B25"/>
                </a:solidFill>
              </a:rPr>
              <a:t>进入真实现场前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32FAE-F1A2-4A54-A8E1-3FE7DC44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238"/>
                </a:solidFill>
              </a:defRPr>
            </a:pPr>
            <a:r>
              <a:rPr sz="1350" b="0">
                <a:solidFill>
                  <a:srgbClr val="152238"/>
                </a:solidFill>
              </a:rPr>
              <a:t>需要真实型号手册、现场阈值、数据授权、企业 IAM 与安全批准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91758-35CB-44D7-A99D-86BF254D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37A"/>
                </a:solidFill>
              </a:defRPr>
            </a:pPr>
            <a:r>
              <a:rPr sz="900" b="0">
                <a:solidFill>
                  <a:srgbClr val="52637A"/>
                </a:solidFill>
              </a:rPr>
              <a:t>项目本地代码、测试与交付文档｜2026-07-21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09E47C-9AA0-45F2-A7EE-D7E7418D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37A"/>
                </a:solidFill>
              </a:defRPr>
            </a:pPr>
            <a:r>
              <a:rPr sz="975" b="1">
                <a:solidFill>
                  <a:srgbClr val="5263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293892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375D51-752A-4E00-A352-8F10331B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FF"/>
                </a:solidFill>
              </a:defRPr>
            </a:pPr>
            <a:r>
              <a:rPr sz="1050" b="1">
                <a:solidFill>
                  <a:srgbClr val="176BFF"/>
                </a:solidFill>
              </a:rPr>
              <a:t>INDUSTRIAL MAINTENANCE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90425-18F2-4976-8828-3FE7F10B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238"/>
                </a:solidFill>
              </a:defRPr>
            </a:pPr>
            <a:r>
              <a:rPr sz="2625" b="1">
                <a:solidFill>
                  <a:srgbClr val="152238"/>
                </a:solidFill>
              </a:rPr>
              <a:t>模块化架构让数据源、工具、安全策略和入口可以独立替换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ABE68-E655-479C-A17E-040DF875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solidFill>
              <a:srgbClr val="176B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17C45-9F89-4E46-BB6B-51162736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2000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6140E-9A17-461C-AA19-7DCF9684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FF"/>
                </a:solidFill>
              </a:defRPr>
            </a:pPr>
            <a:r>
              <a:rPr sz="1350" b="1">
                <a:solidFill>
                  <a:srgbClr val="176B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404F4-8A1E-4E02-A502-F31F550A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657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数据适配器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49DB0-B158-4A48-875E-BB669408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6573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仿真 JSON</a:t>
            </a:r>
          </a:p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多点遥测 CSV</a:t>
            </a:r>
          </a:p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维修历史 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DD2B9-AA3E-4723-9F79-797D4D04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432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6BFF"/>
                </a:solidFill>
              </a:defRPr>
            </a:pPr>
            <a:r>
              <a:rPr sz="2250" b="1">
                <a:solidFill>
                  <a:srgbClr val="176BF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BE0BB-AFA0-4E3E-91FF-984DAD5F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00250"/>
            <a:ext cx="2000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B0D18-8B9B-407E-B6FB-86C18A3A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FF"/>
                </a:solidFill>
              </a:defRPr>
            </a:pPr>
            <a:r>
              <a:rPr sz="1350" b="1">
                <a:solidFill>
                  <a:srgbClr val="176B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2D655-686B-4798-BA99-788BF502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19375"/>
            <a:ext cx="1657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专业工具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3699F6-35C1-4162-8CB9-B8000BE6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14700"/>
            <a:ext cx="16573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遥测查询</a:t>
            </a:r>
          </a:p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历史重放</a:t>
            </a:r>
          </a:p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风险评估</a:t>
            </a:r>
          </a:p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知识检索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3285C-3024-4DC9-8D07-05F7E1D3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432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6BFF"/>
                </a:solidFill>
              </a:defRPr>
            </a:pPr>
            <a:r>
              <a:rPr sz="2250" b="1">
                <a:solidFill>
                  <a:srgbClr val="176BF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62512-CE1E-4CB4-BFA6-43F15A0E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00250"/>
            <a:ext cx="2000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76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71F4D-06E4-432F-A096-EF301057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FF"/>
                </a:solidFill>
              </a:defRPr>
            </a:pPr>
            <a:r>
              <a:rPr sz="1350" b="1">
                <a:solidFill>
                  <a:srgbClr val="176B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27FB0-00C5-41F7-8456-D4F6B9D6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19375"/>
            <a:ext cx="1657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总控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015B7E-55AB-4A3E-9D55-920E5271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14700"/>
            <a:ext cx="16573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任务编排</a:t>
            </a:r>
          </a:p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冲突暴露</a:t>
            </a:r>
          </a:p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降级处理</a:t>
            </a:r>
          </a:p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结果汇总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F8E0A3-1A12-4BE2-B370-9921564B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6BFF"/>
                </a:solidFill>
              </a:defRPr>
            </a:pPr>
            <a:r>
              <a:rPr sz="2250" b="1">
                <a:solidFill>
                  <a:srgbClr val="176BFF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7CE389-5D4E-4107-A194-8D9FEE6F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00250"/>
            <a:ext cx="2000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BE3B88-DEDD-4264-BEEF-D0B1A2B5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90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FF"/>
                </a:solidFill>
              </a:defRPr>
            </a:pPr>
            <a:r>
              <a:rPr sz="1350" b="1">
                <a:solidFill>
                  <a:srgbClr val="176B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090BFB-D317-4FF5-90B6-8C8B5DAA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19375"/>
            <a:ext cx="1657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安全与治理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4CD52E-7A39-41F2-ACCA-29945B04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14700"/>
            <a:ext cx="16573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单位契约</a:t>
            </a:r>
          </a:p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权限策略</a:t>
            </a:r>
          </a:p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输出验证</a:t>
            </a:r>
          </a:p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知识门禁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FC52CF-147D-457E-8DBE-7B271A9E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432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6BFF"/>
                </a:solidFill>
              </a:defRPr>
            </a:pPr>
            <a:r>
              <a:rPr sz="2250" b="1">
                <a:solidFill>
                  <a:srgbClr val="176BFF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87E598-6DBE-41BF-A6FA-78160EDC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00250"/>
            <a:ext cx="2000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41BEEC-860F-48E7-9103-ABE6B11C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190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FF"/>
                </a:solidFill>
              </a:defRPr>
            </a:pPr>
            <a:r>
              <a:rPr sz="1350" b="1">
                <a:solidFill>
                  <a:srgbClr val="176BFF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DE40E0-6EC7-48D3-B0AE-4D1E3E33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19375"/>
            <a:ext cx="1657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交互与审计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17977D-DF5B-49E9-B70E-3F44BB84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14700"/>
            <a:ext cx="16573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Streamlit / CLI</a:t>
            </a:r>
          </a:p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SQLite 会话</a:t>
            </a:r>
          </a:p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反馈 / 专家审核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2ED39B-F64C-45C5-BA9B-7AB940F4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37A"/>
                </a:solidFill>
              </a:defRPr>
            </a:pPr>
            <a:r>
              <a:rPr sz="900" b="0">
                <a:solidFill>
                  <a:srgbClr val="52637A"/>
                </a:solidFill>
              </a:rPr>
              <a:t>项目本地代码、测试与交付文档｜2026-07-21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BB2853-68E4-45C4-9699-4B69C17B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37A"/>
                </a:solidFill>
              </a:defRPr>
            </a:pPr>
            <a:r>
              <a:rPr sz="975" b="1">
                <a:solidFill>
                  <a:srgbClr val="5263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490088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1AE949-86EE-4673-BDF9-A0B1DDB3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FF"/>
                </a:solidFill>
              </a:defRPr>
            </a:pPr>
            <a:r>
              <a:rPr sz="1050" b="1">
                <a:solidFill>
                  <a:srgbClr val="176BFF"/>
                </a:solidFill>
              </a:rPr>
              <a:t>INDUSTRIAL MAINTENANCE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E07DC-09BF-4086-990E-F844331A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238"/>
                </a:solidFill>
              </a:defRPr>
            </a:pPr>
            <a:r>
              <a:rPr sz="2625" b="1">
                <a:solidFill>
                  <a:srgbClr val="152238"/>
                </a:solidFill>
              </a:rPr>
              <a:t>一次诊断经过四个只读工具，并在输出前后都留下证据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26B51-6EBC-4725-9DB4-B278F744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solidFill>
              <a:srgbClr val="176B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9A59A-400F-4D9D-829C-71082A97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64D40-BD37-4C8E-AF26-04332846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38325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BFF"/>
                </a:solidFill>
              </a:defRPr>
            </a:pPr>
            <a:r>
              <a:rPr sz="1650" b="1">
                <a:solidFill>
                  <a:srgbClr val="176B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3E131-88E5-4667-BF99-74400704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09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238"/>
                </a:solidFill>
              </a:defRPr>
            </a:pPr>
            <a:r>
              <a:rPr sz="1575" b="1">
                <a:solidFill>
                  <a:srgbClr val="152238"/>
                </a:solidFill>
              </a:rPr>
              <a:t>读取遥测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E5682-69BB-41E3-9779-077F054A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288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校验字段、单位、量程、时间和来源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B52C2-75B2-4004-825D-3BB1767B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0711F-9EDB-409F-AF5A-6E8171BE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14625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BFF"/>
                </a:solidFill>
              </a:defRPr>
            </a:pPr>
            <a:r>
              <a:rPr sz="1650" b="1">
                <a:solidFill>
                  <a:srgbClr val="176B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0C9B3-DD71-4038-B581-925D7324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860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238"/>
                </a:solidFill>
              </a:defRPr>
            </a:pPr>
            <a:r>
              <a:rPr sz="1575" b="1">
                <a:solidFill>
                  <a:srgbClr val="152238"/>
                </a:solidFill>
              </a:rPr>
              <a:t>重放历史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52541-C4A7-4690-8CB2-D597E41E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051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区分活动告警与已闭环维修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F9728-81A6-4C29-8444-C8D70F4A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46914-A42D-494A-B27C-615509E1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90925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BFF"/>
                </a:solidFill>
              </a:defRPr>
            </a:pPr>
            <a:r>
              <a:rPr sz="1650" b="1">
                <a:solidFill>
                  <a:srgbClr val="176B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FC98B9-4119-4039-B788-27668534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623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238"/>
                </a:solidFill>
              </a:defRPr>
            </a:pPr>
            <a:r>
              <a:rPr sz="1575" b="1">
                <a:solidFill>
                  <a:srgbClr val="152238"/>
                </a:solidFill>
              </a:rPr>
              <a:t>评估风险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4E529B-467C-42D6-A76E-FB982D8E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814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严重风险隐藏纠正动作并升级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B34B8B-58EF-4EB0-9C5F-225B4510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6EACF3-EA4D-4E93-8A61-74A5DABD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67225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BFF"/>
                </a:solidFill>
              </a:defRPr>
            </a:pPr>
            <a:r>
              <a:rPr sz="1650" b="1">
                <a:solidFill>
                  <a:srgbClr val="176B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A2863A-8777-4988-AA68-3DA83117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238"/>
                </a:solidFill>
              </a:defRPr>
            </a:pPr>
            <a:r>
              <a:rPr sz="1575" b="1">
                <a:solidFill>
                  <a:srgbClr val="152238"/>
                </a:solidFill>
              </a:rPr>
              <a:t>检索知识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0DA747-B472-4B01-B7F1-95293195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577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只返回 active、型号适用且有引用的条目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CBF722-E011-42BB-A76F-92B1CD3D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3"/>
          </a:solidFill>
          <a:ln xmlns:a="http://schemas.openxmlformats.org/drawingml/2006/main" w="9525">
            <a:solidFill>
              <a:srgbClr val="168A6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774EAD-16F3-4C0E-B393-4DA4DA7A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43525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BFF"/>
                </a:solidFill>
              </a:defRPr>
            </a:pPr>
            <a:r>
              <a:rPr sz="1650" b="1">
                <a:solidFill>
                  <a:srgbClr val="176BFF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3E8A00-826E-4DB8-9E73-5B43D5B2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14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238"/>
                </a:solidFill>
              </a:defRPr>
            </a:pPr>
            <a:r>
              <a:rPr sz="1575" b="1">
                <a:solidFill>
                  <a:srgbClr val="152238"/>
                </a:solidFill>
              </a:rPr>
              <a:t>验证输出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64F568-7E1A-45A4-8873-1D97A1D0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340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引用缺失、禁止动作或异常均阻断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3DB9D2-364E-4B00-A7DC-3A222972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37A"/>
                </a:solidFill>
              </a:defRPr>
            </a:pPr>
            <a:r>
              <a:rPr sz="900" b="0">
                <a:solidFill>
                  <a:srgbClr val="52637A"/>
                </a:solidFill>
              </a:rPr>
              <a:t>项目本地代码、测试与交付文档｜2026-07-21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A08942-C122-42D2-AF6C-DA573136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37A"/>
                </a:solidFill>
              </a:defRPr>
            </a:pPr>
            <a:r>
              <a:rPr sz="975" b="1">
                <a:solidFill>
                  <a:srgbClr val="5263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269618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21E515-E7B3-45F0-81DF-D92A7BF0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FF"/>
                </a:solidFill>
              </a:defRPr>
            </a:pPr>
            <a:r>
              <a:rPr sz="1050" b="1">
                <a:solidFill>
                  <a:srgbClr val="176BFF"/>
                </a:solidFill>
              </a:rPr>
              <a:t>INDUSTRIAL MAINTENANCE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67EE5-093F-4EA4-9BFF-E614832A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238"/>
                </a:solidFill>
              </a:defRPr>
            </a:pPr>
            <a:r>
              <a:rPr sz="2625" b="1">
                <a:solidFill>
                  <a:srgbClr val="152238"/>
                </a:solidFill>
              </a:rPr>
              <a:t>安全设计覆盖输入、工具、输出与高风险场景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92309-5794-40FE-82B3-5DCEB50E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solidFill>
              <a:srgbClr val="176B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A991F-EE03-4D2D-8277-F840306A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1054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376A6-78EC-4BCC-B598-0DBAE756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02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FF"/>
                </a:solidFill>
              </a:defRPr>
            </a:pPr>
            <a:r>
              <a:rPr sz="1650" b="1">
                <a:solidFill>
                  <a:srgbClr val="176B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60BF7-56A3-4DD7-9B39-C9AA64FC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238"/>
                </a:solidFill>
              </a:defRPr>
            </a:pPr>
            <a:r>
              <a:rPr sz="1425" b="1">
                <a:solidFill>
                  <a:srgbClr val="152238"/>
                </a:solidFill>
              </a:rPr>
              <a:t>输入契约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C1EDC-6D22-47EB-8E30-1FDDD188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4724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37A"/>
                </a:solidFill>
              </a:defRPr>
            </a:pPr>
            <a:r>
              <a:rPr sz="1200" b="0">
                <a:solidFill>
                  <a:srgbClr val="52637A"/>
                </a:solidFill>
              </a:rPr>
              <a:t>标准单位、量程、带时区时间戳；跨行身份漂移直接拒绝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52DB9-AA37-4EAB-9FBF-08F52B7A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51054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9C87E-D187-4FFA-A621-B4AFBD9A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02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FF"/>
                </a:solidFill>
              </a:defRPr>
            </a:pPr>
            <a:r>
              <a:rPr sz="1650" b="1">
                <a:solidFill>
                  <a:srgbClr val="176B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C2D7E1-BC19-4C2C-931A-9ABE40A0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2407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238"/>
                </a:solidFill>
              </a:defRPr>
            </a:pPr>
            <a:r>
              <a:rPr sz="1425" b="1">
                <a:solidFill>
                  <a:srgbClr val="152238"/>
                </a:solidFill>
              </a:rPr>
              <a:t>权限边界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2032E-F7D5-439D-AAC2-F4E2F316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4724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37A"/>
                </a:solidFill>
              </a:defRPr>
            </a:pPr>
            <a:r>
              <a:rPr sz="1200" b="0">
                <a:solidFill>
                  <a:srgbClr val="52637A"/>
                </a:solidFill>
              </a:rPr>
              <a:t>角色 + 站点授权；未知设备与越权访问使用相同响应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0AADA-0C5B-4BC8-8D31-4582A1CA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1054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AE19A-7151-4323-AA6F-9EF96F72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7B25"/>
                </a:solidFill>
              </a:defRPr>
            </a:pPr>
            <a:r>
              <a:rPr sz="1650" b="1">
                <a:solidFill>
                  <a:srgbClr val="E57B2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7BE7A3-A4E4-43BC-9037-84F2E855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238"/>
                </a:solidFill>
              </a:defRPr>
            </a:pPr>
            <a:r>
              <a:rPr sz="1425" b="1">
                <a:solidFill>
                  <a:srgbClr val="152238"/>
                </a:solidFill>
              </a:rPr>
              <a:t>工具权限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E5ADF-364E-47DA-B9F0-3FE31F40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4724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37A"/>
                </a:solidFill>
              </a:defRPr>
            </a:pPr>
            <a:r>
              <a:rPr sz="1200" b="0">
                <a:solidFill>
                  <a:srgbClr val="52637A"/>
                </a:solidFill>
              </a:rPr>
              <a:t>未注册默认拒绝；外部写入需确认；PLC 控制明确禁止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98A4EF-177A-456B-B687-1FDC2851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51054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128EFA-ACB7-46F6-B2C7-3FE4206C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766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7B25"/>
                </a:solidFill>
              </a:defRPr>
            </a:pPr>
            <a:r>
              <a:rPr sz="1650" b="1">
                <a:solidFill>
                  <a:srgbClr val="E57B25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16F21-AF2D-4156-ABC1-7A5AE964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045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238"/>
                </a:solidFill>
              </a:defRPr>
            </a:pPr>
            <a:r>
              <a:rPr sz="1425" b="1">
                <a:solidFill>
                  <a:srgbClr val="152238"/>
                </a:solidFill>
              </a:rPr>
              <a:t>输出门禁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EF2AAC-85A8-4EE4-A6D2-F2AF212F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4724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37A"/>
                </a:solidFill>
              </a:defRPr>
            </a:pPr>
            <a:r>
              <a:rPr sz="1200" b="0">
                <a:solidFill>
                  <a:srgbClr val="52637A"/>
                </a:solidFill>
              </a:rPr>
              <a:t>验证失败即 blocked，清空纠正动作，保留审计原因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224170-C7A9-4C10-83B7-813D1231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51054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83D450-D664-4D89-B0F8-0CB71E87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5297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A64"/>
                </a:solidFill>
              </a:defRPr>
            </a:pPr>
            <a:r>
              <a:rPr sz="1650" b="1">
                <a:solidFill>
                  <a:srgbClr val="168A64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A65D30-E24C-4430-8F2F-EA057260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7682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238"/>
                </a:solidFill>
              </a:defRPr>
            </a:pPr>
            <a:r>
              <a:rPr sz="1425" b="1">
                <a:solidFill>
                  <a:srgbClr val="152238"/>
                </a:solidFill>
              </a:rPr>
              <a:t>知识治理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F0B868-9202-4596-8E01-CC861BBE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81625"/>
            <a:ext cx="4724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37A"/>
                </a:solidFill>
              </a:defRPr>
            </a:pPr>
            <a:r>
              <a:rPr sz="1200" b="0">
                <a:solidFill>
                  <a:srgbClr val="52637A"/>
                </a:solidFill>
              </a:rPr>
              <a:t>双人审核、HTTPS 引用、状态校验与提示注入扫描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2ABEFD-CBC9-49BC-B8E9-67747C00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9625"/>
            <a:ext cx="51054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939F63-219B-4A5F-B50B-E0950818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5297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A64"/>
                </a:solidFill>
              </a:defRPr>
            </a:pPr>
            <a:r>
              <a:rPr sz="1650" b="1">
                <a:solidFill>
                  <a:srgbClr val="168A64"/>
                </a:solidFill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A242A6-BDFB-49A8-8729-766D1328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7682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238"/>
                </a:solidFill>
              </a:defRPr>
            </a:pPr>
            <a:r>
              <a:rPr sz="1425" b="1">
                <a:solidFill>
                  <a:srgbClr val="152238"/>
                </a:solidFill>
              </a:rPr>
              <a:t>人工复核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F687E9-95B3-490C-A600-6974DB83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81625"/>
            <a:ext cx="4724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37A"/>
                </a:solidFill>
              </a:defRPr>
            </a:pPr>
            <a:r>
              <a:rPr sz="1200" b="0">
                <a:solidFill>
                  <a:srgbClr val="52637A"/>
                </a:solidFill>
              </a:rPr>
              <a:t>普通反馈与专家审核分表保存，不自动修改知识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994614-8ED3-49FE-9F56-A46E5520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37A"/>
                </a:solidFill>
              </a:defRPr>
            </a:pPr>
            <a:r>
              <a:rPr sz="900" b="0">
                <a:solidFill>
                  <a:srgbClr val="52637A"/>
                </a:solidFill>
              </a:rPr>
              <a:t>项目本地代码、测试与交付文档｜2026-07-21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1DB249-C82F-4E87-B3D4-86FC179D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37A"/>
                </a:solidFill>
              </a:defRPr>
            </a:pPr>
            <a:r>
              <a:rPr sz="975" b="1">
                <a:solidFill>
                  <a:srgbClr val="5263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274661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66674C-31C9-4E3A-8D4A-9AA0D3E4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FF"/>
                </a:solidFill>
              </a:defRPr>
            </a:pPr>
            <a:r>
              <a:rPr sz="1050" b="1">
                <a:solidFill>
                  <a:srgbClr val="176BFF"/>
                </a:solidFill>
              </a:rPr>
              <a:t>INDUSTRIAL MAINTENANCE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987AC-2183-4D79-BF24-7474E7D1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238"/>
                </a:solidFill>
              </a:defRPr>
            </a:pPr>
            <a:r>
              <a:rPr sz="2625" b="1">
                <a:solidFill>
                  <a:srgbClr val="152238"/>
                </a:solidFill>
              </a:rPr>
              <a:t>多时间点遥测用于观察变化，不被包装成故障预测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63FA5-5A2C-4732-8CCE-9B214CB7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solidFill>
              <a:srgbClr val="176B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899BC-045F-43D8-9861-395034D7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858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170B1-1A3B-4D15-B862-A5D0E45B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9525">
            <a:solidFill>
              <a:srgbClr val="176B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3DB32-A6E6-4109-BC1B-F22D1DE1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37A"/>
                </a:solidFill>
              </a:defRPr>
            </a:pPr>
            <a:r>
              <a:rPr sz="900" b="0">
                <a:solidFill>
                  <a:srgbClr val="52637A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72F7D-82C9-4D0C-B472-23FFAB84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19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9525">
            <a:solidFill>
              <a:srgbClr val="176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8CA2D-EFA3-401A-BEC1-12A3715E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481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37A"/>
                </a:solidFill>
              </a:defRPr>
            </a:pPr>
            <a:r>
              <a:rPr sz="900" b="0">
                <a:solidFill>
                  <a:srgbClr val="52637A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87FEE-211A-4CF0-AACD-D0A192EC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528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9525">
            <a:solidFill>
              <a:srgbClr val="176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3B0F5-BC1E-4E2F-BE38-27DA3B73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814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37A"/>
                </a:solidFill>
              </a:defRPr>
            </a:pPr>
            <a:r>
              <a:rPr sz="900" b="0">
                <a:solidFill>
                  <a:srgbClr val="52637A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97181-2D86-44B8-AA8F-BDBA3157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86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9525">
            <a:solidFill>
              <a:srgbClr val="176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374C17-1B83-4931-9507-D7C19848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146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37A"/>
                </a:solidFill>
              </a:defRPr>
            </a:pPr>
            <a:r>
              <a:rPr sz="900" b="0">
                <a:solidFill>
                  <a:srgbClr val="52637A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0E8ED-61C3-4D44-85E4-9B2CA22F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14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9525">
            <a:solidFill>
              <a:srgbClr val="176B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6C80E-3BD3-4F5B-86CC-AEC46AF6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431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37A"/>
                </a:solidFill>
              </a:defRPr>
            </a:pPr>
            <a:r>
              <a:rPr sz="900" b="0">
                <a:solidFill>
                  <a:srgbClr val="52637A"/>
                </a:solidFill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C64573-F3C5-4623-BDAB-E0D863FA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示意：振动随采样点上升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18869-0E16-4BE3-B320-1172EB8E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95875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37A"/>
                </a:solidFill>
              </a:defRPr>
            </a:pPr>
            <a:r>
              <a:rPr sz="1050" b="0">
                <a:solidFill>
                  <a:srgbClr val="52637A"/>
                </a:solidFill>
              </a:rPr>
              <a:t>采样 1        采样 2        采样 3        采样 4        采样 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DD90F4-4D6A-4749-A0FC-B9CA2F5F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51700D-29CC-4E55-A920-769AF460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BFF"/>
                </a:solidFill>
              </a:defRPr>
            </a:pPr>
            <a:r>
              <a:rPr sz="2250" b="1">
                <a:solidFill>
                  <a:srgbClr val="176B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7C8217-EB37-4743-9F7C-789F02C4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采样点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8169D2-43D8-4539-9EE4-86AF13F3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194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37A"/>
                </a:solidFill>
              </a:defRPr>
            </a:pPr>
            <a:r>
              <a:rPr sz="1200" b="0">
                <a:solidFill>
                  <a:srgbClr val="52637A"/>
                </a:solidFill>
              </a:rPr>
              <a:t>诊断只读取最新点；趋势读取完整序列。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F5D921-2F32-4167-946F-E12AC55C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6E542F-8133-4159-B4B4-2B1CBAA2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48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57B25"/>
                </a:solidFill>
              </a:defRPr>
            </a:pPr>
            <a:r>
              <a:rPr sz="2250" b="1">
                <a:solidFill>
                  <a:srgbClr val="E57B25"/>
                </a:solidFill>
              </a:rPr>
              <a:t>!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FBC1E1-23F1-4857-8DEF-B701AB8A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质量提示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7A918D-257D-4F61-B007-05AC7AAB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96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37A"/>
                </a:solidFill>
              </a:defRPr>
            </a:pPr>
            <a:r>
              <a:rPr sz="1200" b="0">
                <a:solidFill>
                  <a:srgbClr val="52637A"/>
                </a:solidFill>
              </a:rPr>
              <a:t>拒绝重复点、无时区、量程异常和站点/型号漂移。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30A492-0B7E-4F5C-B9BD-24DDC671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37A"/>
                </a:solidFill>
              </a:defRPr>
            </a:pPr>
            <a:r>
              <a:rPr sz="900" b="0">
                <a:solidFill>
                  <a:srgbClr val="52637A"/>
                </a:solidFill>
              </a:rPr>
              <a:t>示例趋势为项目内仿真展示，不代表真实设备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756547-667F-4EC2-B9E7-EBD4AC78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37A"/>
                </a:solidFill>
              </a:defRPr>
            </a:pPr>
            <a:r>
              <a:rPr sz="975" b="1">
                <a:solidFill>
                  <a:srgbClr val="5263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75917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A76551-CE2B-454D-966F-06018039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FF"/>
                </a:solidFill>
              </a:defRPr>
            </a:pPr>
            <a:r>
              <a:rPr sz="1050" b="1">
                <a:solidFill>
                  <a:srgbClr val="176BFF"/>
                </a:solidFill>
              </a:rPr>
              <a:t>INDUSTRIAL MAINTENANCE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5ED7C-7F37-4AC2-A8F5-E28F7B98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238"/>
                </a:solidFill>
              </a:defRPr>
            </a:pPr>
            <a:r>
              <a:rPr sz="2625" b="1">
                <a:solidFill>
                  <a:srgbClr val="152238"/>
                </a:solidFill>
              </a:rPr>
              <a:t>评测分三层：回归防退化、盲测查误差、影子指标看运行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54ED3-3115-40DD-87EA-1E4876F5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solidFill>
              <a:srgbClr val="176B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216C4-95FA-441F-8C0C-EF20B913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BDDE4-CBED-4600-AD51-74BE2DB1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BFF"/>
                </a:solidFill>
              </a:defRPr>
            </a:pPr>
            <a:r>
              <a:rPr sz="2250" b="1">
                <a:solidFill>
                  <a:srgbClr val="176BFF"/>
                </a:solidFill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72D8A-8E6A-4C5E-A8ED-E615BAF4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开发回归案例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4FFB2-569C-4023-AFEB-8D17A0B7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9527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37A"/>
                </a:solidFill>
              </a:defRPr>
            </a:pPr>
            <a:r>
              <a:rPr sz="1200" b="0">
                <a:solidFill>
                  <a:srgbClr val="52637A"/>
                </a:solidFill>
              </a:rPr>
              <a:t>覆盖 6 类泵故障的同义表达，用于防止检索能力退化。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A0420-BB66-4425-B153-555D2B0A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C5C58-DA05-4241-B335-08D90A45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8A64"/>
                </a:solidFill>
              </a:defRPr>
            </a:pPr>
            <a:r>
              <a:rPr sz="2250" b="1">
                <a:solidFill>
                  <a:srgbClr val="168A64"/>
                </a:solidFill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99497-0F4F-42A7-8137-53FE502C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76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独立盲测案例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0FF93-6D54-48DB-8EC0-F5B0E737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14650"/>
            <a:ext cx="29527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37A"/>
                </a:solidFill>
              </a:defRPr>
            </a:pPr>
            <a:r>
              <a:rPr sz="1200" b="0">
                <a:solidFill>
                  <a:srgbClr val="52637A"/>
                </a:solidFill>
              </a:rPr>
              <a:t>包含 3 个无关输入；记录假阳性、假阴性和错误匹配。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8C382-6A92-47E0-9945-FFD1B623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672874-D1F9-4D4B-A7D5-2B467110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57B25"/>
                </a:solidFill>
              </a:defRPr>
            </a:pPr>
            <a:r>
              <a:rPr sz="2250" b="1">
                <a:solidFill>
                  <a:srgbClr val="E57B25"/>
                </a:solidFill>
              </a:rPr>
              <a:t>51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306B8C-1044-47A2-BC7A-AFDB37F9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自动化测试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2D916-844D-4F5A-A58A-1D6073C3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29527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37A"/>
                </a:solidFill>
              </a:defRPr>
            </a:pPr>
            <a:r>
              <a:rPr sz="1200" b="0">
                <a:solidFill>
                  <a:srgbClr val="52637A"/>
                </a:solidFill>
              </a:rPr>
              <a:t>覆盖网页、领域契约、权限、治理、降级、备份和恢复。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057FA-636E-486B-BC0A-F525B057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238"/>
                </a:solidFill>
              </a:defRPr>
            </a:pPr>
            <a:r>
              <a:rPr sz="1500" b="1">
                <a:solidFill>
                  <a:srgbClr val="152238"/>
                </a:solidFill>
              </a:rPr>
              <a:t>当前本地结果：回归 Top-1 100%｜盲测 15/15｜不等于工业诊断准确率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1AA193-B7F2-4531-88FF-010AFC03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37A"/>
                </a:solidFill>
              </a:defRPr>
            </a:pPr>
            <a:r>
              <a:rPr sz="900" b="0">
                <a:solidFill>
                  <a:srgbClr val="52637A"/>
                </a:solidFill>
              </a:rPr>
              <a:t>项目本地代码、测试与交付文档｜2026-07-21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EB949F-21A8-4B05-B075-7F9D26E4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37A"/>
                </a:solidFill>
              </a:defRPr>
            </a:pPr>
            <a:r>
              <a:rPr sz="975" b="1">
                <a:solidFill>
                  <a:srgbClr val="5263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863435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9244DF-8304-44A5-823B-763A3C23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FF"/>
                </a:solidFill>
              </a:defRPr>
            </a:pPr>
            <a:r>
              <a:rPr sz="1050" b="1">
                <a:solidFill>
                  <a:srgbClr val="176BFF"/>
                </a:solidFill>
              </a:rPr>
              <a:t>INDUSTRIAL MAINTENANCE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1049D-FC9C-494B-BBA5-D78FA496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238"/>
                </a:solidFill>
              </a:defRPr>
            </a:pPr>
            <a:r>
              <a:rPr sz="2625" b="1">
                <a:solidFill>
                  <a:srgbClr val="152238"/>
                </a:solidFill>
              </a:rPr>
              <a:t>失败模式被设计成可见、可阻断、可恢复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938C2-2E85-4095-BA71-0D3721B7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solidFill>
              <a:srgbClr val="176B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9ECCB-CDBA-41D3-8845-CBE1BC47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37A"/>
                </a:solidFill>
              </a:defRPr>
            </a:pPr>
            <a:r>
              <a:rPr sz="1350" b="1">
                <a:solidFill>
                  <a:srgbClr val="52637A"/>
                </a:solidFill>
              </a:rPr>
              <a:t>失败模式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62B20-004C-455D-8530-1582FD61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954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37A"/>
                </a:solidFill>
              </a:defRPr>
            </a:pPr>
            <a:r>
              <a:rPr sz="1350" b="1">
                <a:solidFill>
                  <a:srgbClr val="52637A"/>
                </a:solidFill>
              </a:rPr>
              <a:t>系统行为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3986D-E9AB-40E8-9BD3-43F5C2A9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95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37A"/>
                </a:solidFill>
              </a:defRPr>
            </a:pPr>
            <a:r>
              <a:rPr sz="1350" b="1">
                <a:solidFill>
                  <a:srgbClr val="52637A"/>
                </a:solidFill>
              </a:rPr>
              <a:t>安全结果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BBCF5-1590-4433-9355-551C9C04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F5F8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60006-F235-4A27-B0A0-91E11024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238"/>
                </a:solidFill>
              </a:defRPr>
            </a:pPr>
            <a:r>
              <a:rPr sz="1275" b="1">
                <a:solidFill>
                  <a:srgbClr val="152238"/>
                </a:solidFill>
              </a:rPr>
              <a:t>越权 / 未知设备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4C1CB-8D06-4A30-8479-2BA4474A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383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FF"/>
                </a:solidFill>
              </a:defRPr>
            </a:pPr>
            <a:r>
              <a:rPr sz="1275" b="1">
                <a:solidFill>
                  <a:srgbClr val="176BFF"/>
                </a:solidFill>
              </a:rPr>
              <a:t>读取前停止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69E69-8927-4EB7-866C-A16A2553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383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统一错误响应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E14A0-1CAE-4978-B70F-9DA81D9A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238"/>
                </a:solidFill>
              </a:defRPr>
            </a:pPr>
            <a:r>
              <a:rPr sz="1275" b="0">
                <a:solidFill>
                  <a:srgbClr val="152238"/>
                </a:solidFill>
              </a:rPr>
              <a:t>遥测缺失或越界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9D75A-7E6F-4D55-A66D-72770687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670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FF"/>
                </a:solidFill>
              </a:defRPr>
            </a:pPr>
            <a:r>
              <a:rPr sz="1275" b="1">
                <a:solidFill>
                  <a:srgbClr val="176BFF"/>
                </a:solidFill>
              </a:rPr>
              <a:t>失败关闭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143FE-D580-4343-ABF6-CC071D24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670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不进入风险判断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7F871-93D0-405B-8F9A-A7233506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F5F8F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6EB553-6069-45C2-B22D-6B4F2A21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956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238"/>
                </a:solidFill>
              </a:defRPr>
            </a:pPr>
            <a:r>
              <a:rPr sz="1275" b="0">
                <a:solidFill>
                  <a:srgbClr val="152238"/>
                </a:solidFill>
              </a:rPr>
              <a:t>历史工具失败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6368DA-2BF0-4941-A484-52728822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956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FF"/>
                </a:solidFill>
              </a:defRPr>
            </a:pPr>
            <a:r>
              <a:rPr sz="1275" b="1">
                <a:solidFill>
                  <a:srgbClr val="176BFF"/>
                </a:solidFill>
              </a:rPr>
              <a:t>降级继续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2F020A-6CCF-4BBF-A332-A383E0E3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956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失败轨迹可见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84255B-CEF4-4787-AC78-A7F6AAC1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238"/>
                </a:solidFill>
              </a:defRPr>
            </a:pPr>
            <a:r>
              <a:rPr sz="1275" b="0">
                <a:solidFill>
                  <a:srgbClr val="152238"/>
                </a:solidFill>
              </a:rPr>
              <a:t>知识无匹配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0519CA-0B6F-43AC-B27D-B3FDD014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243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FF"/>
                </a:solidFill>
              </a:defRPr>
            </a:pPr>
            <a:r>
              <a:rPr sz="1275" b="1">
                <a:solidFill>
                  <a:srgbClr val="176BFF"/>
                </a:solidFill>
              </a:rPr>
              <a:t>空措施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55133E-C814-4273-9151-6C157645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243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不猜测维修动作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2B34E8-C3F8-4B7C-BA26-26571E45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F5F8F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0D6CCE-2BC5-48BA-9228-BCDDF288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529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238"/>
                </a:solidFill>
              </a:defRPr>
            </a:pPr>
            <a:r>
              <a:rPr sz="1275" b="0">
                <a:solidFill>
                  <a:srgbClr val="152238"/>
                </a:solidFill>
              </a:rPr>
              <a:t>严重风险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335FC4-CE45-436B-9723-56241009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529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FF"/>
                </a:solidFill>
              </a:defRPr>
            </a:pPr>
            <a:r>
              <a:rPr sz="1275" b="1">
                <a:solidFill>
                  <a:srgbClr val="176BFF"/>
                </a:solidFill>
              </a:rPr>
              <a:t>升级处理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00C1C2-6A7D-4CBC-9745-8BDFC5D2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529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隐藏纠正动作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A252EE-234D-49D5-B613-6CE7DE82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816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238"/>
                </a:solidFill>
              </a:defRPr>
            </a:pPr>
            <a:r>
              <a:rPr sz="1275" b="0">
                <a:solidFill>
                  <a:srgbClr val="152238"/>
                </a:solidFill>
              </a:rPr>
              <a:t>审计库损坏风险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9F7704-2B0E-4CAE-B4B7-DC83DA5A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816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FF"/>
                </a:solidFill>
              </a:defRPr>
            </a:pPr>
            <a:r>
              <a:rPr sz="1275" b="1">
                <a:solidFill>
                  <a:srgbClr val="176BFF"/>
                </a:solidFill>
              </a:rPr>
              <a:t>备份校验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4E442C-60AE-4D7F-A0A3-C7C6965A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81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哈希 + integrity_check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D2CB66-2F64-42FB-9F01-E93D3129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37A"/>
                </a:solidFill>
              </a:defRPr>
            </a:pPr>
            <a:r>
              <a:rPr sz="900" b="0">
                <a:solidFill>
                  <a:srgbClr val="52637A"/>
                </a:solidFill>
              </a:rPr>
              <a:t>完整矩阵：docs/FAILURE_MATRIX.md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D8E0FC-D530-4C7A-B2CA-7AEDF3A1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37A"/>
                </a:solidFill>
              </a:defRPr>
            </a:pPr>
            <a:r>
              <a:rPr sz="975" b="1">
                <a:solidFill>
                  <a:srgbClr val="52637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215328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EAE26C-DD72-4D2A-A5FC-AE51A5B9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FF"/>
                </a:solidFill>
              </a:defRPr>
            </a:pPr>
            <a:r>
              <a:rPr sz="1050" b="1">
                <a:solidFill>
                  <a:srgbClr val="176BFF"/>
                </a:solidFill>
              </a:rPr>
              <a:t>INDUSTRIAL MAINTENANCE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4EDC1-6C50-4A52-AC82-9F236A79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238"/>
                </a:solidFill>
              </a:defRPr>
            </a:pPr>
            <a:r>
              <a:rPr sz="2625" b="1">
                <a:solidFill>
                  <a:srgbClr val="152238"/>
                </a:solidFill>
              </a:rPr>
              <a:t>工程过程按阶段门推进，而不是边写边推送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F55AA-D758-4706-806C-396B504D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solidFill>
              <a:srgbClr val="176B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6A9D7-4A21-489B-B184-3E56DAEB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8859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7B0F9-C889-42D2-BB25-0F64BB00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FF"/>
                </a:solidFill>
              </a:defRPr>
            </a:pPr>
            <a:r>
              <a:rPr sz="1800" b="1">
                <a:solidFill>
                  <a:srgbClr val="176B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DD21A-9986-4B68-BB42-4565A324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238"/>
                </a:solidFill>
              </a:defRPr>
            </a:pPr>
            <a:r>
              <a:rPr sz="1575" b="1">
                <a:solidFill>
                  <a:srgbClr val="152238"/>
                </a:solidFill>
              </a:rPr>
              <a:t>需求冻结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10571-DFF5-4C7E-896C-9F18C460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MRD / PRD</a:t>
            </a:r>
          </a:p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追踪矩阵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FC159-9831-40D8-A9D2-721B87BD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432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6BFF"/>
                </a:solidFill>
              </a:defRPr>
            </a:pPr>
            <a:r>
              <a:rPr sz="2100" b="1">
                <a:solidFill>
                  <a:srgbClr val="176BF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DB2F0-4767-4C7D-A92A-9CC738DE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90750"/>
            <a:ext cx="18859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6CBEC-DEB5-4856-BA86-8E3A224A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812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FF"/>
                </a:solidFill>
              </a:defRPr>
            </a:pPr>
            <a:r>
              <a:rPr sz="1800" b="1">
                <a:solidFill>
                  <a:srgbClr val="176B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B5E6B-98F1-4268-A9C7-CD9236CB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718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238"/>
                </a:solidFill>
              </a:defRPr>
            </a:pPr>
            <a:r>
              <a:rPr sz="1575" b="1">
                <a:solidFill>
                  <a:srgbClr val="152238"/>
                </a:solidFill>
              </a:rPr>
              <a:t>安全 MVP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A4A76-5E98-4F33-A85D-1FBAD8EC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385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工具契约</a:t>
            </a:r>
          </a:p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输出验证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6E5E4-A009-408F-9F07-D3B3F8A7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432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6BFF"/>
                </a:solidFill>
              </a:defRPr>
            </a:pPr>
            <a:r>
              <a:rPr sz="2100" b="1">
                <a:solidFill>
                  <a:srgbClr val="176BF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8477D-C13D-4710-8929-1448AB0A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90750"/>
            <a:ext cx="18859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4F6D14-73E0-4979-9BA1-01F1CA8F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812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FF"/>
                </a:solidFill>
              </a:defRPr>
            </a:pPr>
            <a:r>
              <a:rPr sz="1800" b="1">
                <a:solidFill>
                  <a:srgbClr val="176B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920E5E-A3BB-4B0E-AB54-07D37C95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718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238"/>
                </a:solidFill>
              </a:defRPr>
            </a:pPr>
            <a:r>
              <a:rPr sz="1575" b="1">
                <a:solidFill>
                  <a:srgbClr val="152238"/>
                </a:solidFill>
              </a:rPr>
              <a:t>本地治理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6888A-29B8-4CF0-8F8F-16B36190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385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RBAC / 站点</a:t>
            </a:r>
          </a:p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知识双审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D9261D-D9C9-4BA0-9EA3-C6AF2AB0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432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6BFF"/>
                </a:solidFill>
              </a:defRPr>
            </a:pPr>
            <a:r>
              <a:rPr sz="2100" b="1">
                <a:solidFill>
                  <a:srgbClr val="176BFF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9567EA-6E49-478F-8A19-43306DA4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18859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BC4967-1FE5-4AF8-9A5D-C3E7F403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812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FF"/>
                </a:solidFill>
              </a:defRPr>
            </a:pPr>
            <a:r>
              <a:rPr sz="1800" b="1">
                <a:solidFill>
                  <a:srgbClr val="176B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2316CE-FB66-4E9D-803A-E17B001B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718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238"/>
                </a:solidFill>
              </a:defRPr>
            </a:pPr>
            <a:r>
              <a:rPr sz="1575" b="1">
                <a:solidFill>
                  <a:srgbClr val="152238"/>
                </a:solidFill>
              </a:rPr>
              <a:t>数据与评测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C6CF1B-D806-4215-ACFD-D47E97BC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385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趋势 / 盲测</a:t>
            </a:r>
          </a:p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性能基线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288507-C0D6-4887-8C5E-154E0311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432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6BFF"/>
                </a:solidFill>
              </a:defRPr>
            </a:pPr>
            <a:r>
              <a:rPr sz="2100" b="1">
                <a:solidFill>
                  <a:srgbClr val="176BFF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79717B-C2D6-48FD-AB02-4533C234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90750"/>
            <a:ext cx="18859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3"/>
          </a:solidFill>
          <a:ln xmlns:a="http://schemas.openxmlformats.org/drawingml/2006/main" w="9525">
            <a:solidFill>
              <a:srgbClr val="168A6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34D263-6D11-4A52-AB4E-18511DD9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FF"/>
                </a:solidFill>
              </a:defRPr>
            </a:pPr>
            <a:r>
              <a:rPr sz="1800" b="1">
                <a:solidFill>
                  <a:srgbClr val="176BFF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687572-C966-4ACD-8B83-6D6BD1C4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718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238"/>
                </a:solidFill>
              </a:defRPr>
            </a:pPr>
            <a:r>
              <a:rPr sz="1575" b="1">
                <a:solidFill>
                  <a:srgbClr val="152238"/>
                </a:solidFill>
              </a:rPr>
              <a:t>恢复与交付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6DFBD6-0BA7-4EF4-9A53-1C2D8938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385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备份演练</a:t>
            </a:r>
          </a:p>
          <a:p xmlns:a="http://schemas.openxmlformats.org/drawingml/2006/main">
            <a:pPr algn="l">
              <a:defRPr sz="1275" b="0">
                <a:solidFill>
                  <a:srgbClr val="52637A"/>
                </a:solidFill>
              </a:defRPr>
            </a:pPr>
            <a:r>
              <a:rPr sz="1275" b="0">
                <a:solidFill>
                  <a:srgbClr val="52637A"/>
                </a:solidFill>
              </a:rPr>
              <a:t>运行手册 / PPT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141204-7A92-4720-88CA-F3EB5A13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238"/>
                </a:solidFill>
              </a:defRPr>
            </a:pPr>
            <a:r>
              <a:rPr sz="1500" b="1">
                <a:solidFill>
                  <a:srgbClr val="152238"/>
                </a:solidFill>
              </a:rPr>
              <a:t>每个阶段：实现 → 自动化验证 → 文档同步 → 本地提交；最终统一验收后才推送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56660A-5D1B-430A-B714-8774D1A7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37A"/>
                </a:solidFill>
              </a:defRPr>
            </a:pPr>
            <a:r>
              <a:rPr sz="900" b="0">
                <a:solidFill>
                  <a:srgbClr val="52637A"/>
                </a:solidFill>
              </a:rPr>
              <a:t>项目本地代码、测试与交付文档｜2026-07-21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5EB50E-A9A8-423D-8D1B-6DAE97A8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37A"/>
                </a:solidFill>
              </a:defRPr>
            </a:pPr>
            <a:r>
              <a:rPr sz="975" b="1">
                <a:solidFill>
                  <a:srgbClr val="52637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454068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834C2-3FC4-40DB-9275-EF42B851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FF"/>
                </a:solidFill>
              </a:defRPr>
            </a:pPr>
            <a:r>
              <a:rPr sz="1050" b="1">
                <a:solidFill>
                  <a:srgbClr val="176BFF"/>
                </a:solidFill>
              </a:rPr>
              <a:t>INDUSTRIAL MAINTENANCE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DB96B-15A8-40DF-B19B-FD121A00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238"/>
                </a:solidFill>
              </a:defRPr>
            </a:pPr>
            <a:r>
              <a:rPr sz="2625" b="1">
                <a:solidFill>
                  <a:srgbClr val="152238"/>
                </a:solidFill>
              </a:rPr>
              <a:t>当前成果可以演示，但真实工业落地仍有明确门槛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60809-FF37-45E7-852A-C771C641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solidFill>
              <a:srgbClr val="176B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E6A20-06A0-4324-8F01-75FA4E75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105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60438-F275-49F7-A8A0-C9AFF63F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8A64"/>
                </a:solidFill>
              </a:defRPr>
            </a:pPr>
            <a:r>
              <a:rPr sz="2250" b="1">
                <a:solidFill>
                  <a:srgbClr val="168A64"/>
                </a:solidFill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5EEC7-527B-4813-8E53-4C6005B1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已完成的本地闭环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94A97-BEC7-494E-B22D-AE88069F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47244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37A"/>
                </a:solidFill>
              </a:defRPr>
            </a:pPr>
            <a:r>
              <a:rPr sz="1200" b="0">
                <a:solidFill>
                  <a:srgbClr val="52637A"/>
                </a:solidFill>
              </a:rPr>
              <a:t>多工具编排、可追溯知识、站点/角色授权、趋势、盲测、专家审核、备份恢复。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1530B-013C-4582-98CE-4D3B4178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86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D01F5-DB15-46F6-B618-87A28D69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57B25"/>
                </a:solidFill>
              </a:defRPr>
            </a:pPr>
            <a:r>
              <a:rPr sz="2250" b="1">
                <a:solidFill>
                  <a:srgbClr val="E57B25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3B092-A46F-4490-B013-446C726F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510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38"/>
                </a:solidFill>
              </a:defRPr>
            </a:pPr>
            <a:r>
              <a:rPr sz="1650" b="1">
                <a:solidFill>
                  <a:srgbClr val="152238"/>
                </a:solidFill>
              </a:rPr>
              <a:t>必须由真实组织补齐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5C7D8-4673-435E-B68E-8F6D2E47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51054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37A"/>
                </a:solidFill>
              </a:defRPr>
            </a:pPr>
            <a:r>
              <a:rPr sz="1200" b="0">
                <a:solidFill>
                  <a:srgbClr val="52637A"/>
                </a:solidFill>
              </a:rPr>
              <a:t>厂商授权手册、现场阈值、企业 IAM、脱敏历史数据、OT 安全评审和领域专家盲评。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E0699C-52BB-46C7-A9A3-B056119E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54040"/>
                </a:solidFill>
              </a:defRPr>
            </a:pPr>
            <a:r>
              <a:rPr sz="1650" b="1">
                <a:solidFill>
                  <a:srgbClr val="C54040"/>
                </a:solidFill>
              </a:rPr>
              <a:t>正确结论：这是可验证的安全教学原型，不是已经上线的工业控制系统。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8A9020-F4C7-4215-93E5-E744D862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37A"/>
                </a:solidFill>
              </a:defRPr>
            </a:pPr>
            <a:r>
              <a:rPr sz="900" b="0">
                <a:solidFill>
                  <a:srgbClr val="52637A"/>
                </a:solidFill>
              </a:rPr>
              <a:t>项目本地代码、测试与交付文档｜2026-07-21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938A60-D28D-40DF-8738-798D5474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37A"/>
                </a:solidFill>
              </a:defRPr>
            </a:pPr>
            <a:r>
              <a:rPr sz="975" b="1">
                <a:solidFill>
                  <a:srgbClr val="52637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686464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5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2C2E6-AB23-484D-A868-E6E158E3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项目形成了一个可解释、可治理、可恢复的 Agent 工程样板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2DAAB-7153-4875-A0C7-B7AC5C91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AEE"/>
                </a:solidFill>
              </a:defRPr>
            </a:pPr>
            <a:r>
              <a:rPr sz="1800" b="0">
                <a:solidFill>
                  <a:srgbClr val="C9DAEE"/>
                </a:solidFill>
              </a:rPr>
              <a:t>核心价值不在于“回答得像专家”，而在于知道何时引用、何时降级、何时阻断、何时交给人。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B1B70-56E9-47EA-8321-28CA482C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00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54"/>
          </a:solidFill>
          <a:ln xmlns:a="http://schemas.openxmlformats.org/drawingml/2006/main" w="9525">
            <a:solidFill>
              <a:srgbClr val="33557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2C19C-6F3A-45CE-BDB8-449563DD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95800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1DBE6"/>
                </a:solidFill>
              </a:defRPr>
            </a:pPr>
            <a:r>
              <a:rPr sz="1650" b="1">
                <a:solidFill>
                  <a:srgbClr val="71DBE6"/>
                </a:solidFill>
              </a:rPr>
              <a:t>下一步：统一验收 → 冻结版本 → 推送 GitHub → 用真实授权数据开展影子试点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7004D-331D-4489-A74D-A7640086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4CC"/>
                </a:solidFill>
              </a:defRPr>
            </a:pPr>
            <a:r>
              <a:rPr sz="1200" b="0">
                <a:solidFill>
                  <a:srgbClr val="9FB4CC"/>
                </a:solidFill>
              </a:rPr>
              <a:t>工业运维 Agent｜v1.7.0</a:t>
            </a:r>
          </a:p>
        </p:txBody>
      </p:sp>
    </p:spTree>
    <p:extLst>
      <p:ext uri="{BB962C8B-B14F-4D97-AF65-F5344CB8AC3E}">
        <p14:creationId xmlns:p14="http://schemas.microsoft.com/office/powerpoint/2010/main" val="3413040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2026-07-21T12:52:48.3480000Z</dcterms:created>
  <dcterms:modified xsi:type="dcterms:W3CDTF">2026-07-21T12:52:48.3480000Z</dcterms:modified>
</coreProperties>
</file>